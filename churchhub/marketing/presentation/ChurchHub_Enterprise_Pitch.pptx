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Systems in use (sample)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Spreadsheets</c:v>
                </c:pt>
                <c:pt idx="1">
                  <c:v>Point tools</c:v>
                </c:pt>
                <c:pt idx="2">
                  <c:v>Unified ChMS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t>Income vs Expense (sample)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Income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  <c:pt idx="4">
                  <c:v>Jun</c:v>
                </c:pt>
                <c:pt idx="5">
                  <c:v>Jul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45</c:v>
                </c:pt>
                <c:pt idx="2">
                  <c:v>48</c:v>
                </c:pt>
                <c:pt idx="3">
                  <c:v>51</c:v>
                </c:pt>
                <c:pt idx="4">
                  <c:v>49</c:v>
                </c:pt>
                <c:pt idx="5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  <c:pt idx="4">
                  <c:v>Jun</c:v>
                </c:pt>
                <c:pt idx="5">
                  <c:v>Jul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28</c:v>
                </c:pt>
                <c:pt idx="1">
                  <c:v>30</c:v>
                </c:pt>
                <c:pt idx="2">
                  <c:v>29</c:v>
                </c:pt>
                <c:pt idx="3">
                  <c:v>33</c:v>
                </c:pt>
                <c:pt idx="4">
                  <c:v>31</c:v>
                </c:pt>
                <c:pt idx="5">
                  <c:v>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Baptized</c:v>
                </c:pt>
                <c:pt idx="1">
                  <c:v>Profession</c:v>
                </c:pt>
                <c:pt idx="2">
                  <c:v>Visitor track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18</c:v>
                </c:pt>
                <c:pt idx="2">
                  <c:v>12</c:v>
                </c:pt>
                <c:pt idx="3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  <a:r>
              <a:t>Tithe vs Combined (MTD, sample $k)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Tithe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Central</c:v>
                </c:pt>
                <c:pt idx="1">
                  <c:v>Eastside</c:v>
                </c:pt>
                <c:pt idx="2">
                  <c:v>Riverside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18.2</c:v>
                </c:pt>
                <c:pt idx="1">
                  <c:v>12.1</c:v>
                </c:pt>
                <c:pt idx="2">
                  <c:v>9.7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Combined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Central</c:v>
                </c:pt>
                <c:pt idx="1">
                  <c:v>Eastside</c:v>
                </c:pt>
                <c:pt idx="2">
                  <c:v>Riverside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6.4</c:v>
                </c:pt>
                <c:pt idx="1">
                  <c:v>4.8</c:v>
                </c:pt>
                <c:pt idx="2">
                  <c:v>3.2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In the next ten minutes I’ll show ChurchHub — multi-level church administration from the local church to conference and beyond. Roles, church scope, and audit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minutes. The full arc: Mission Control, people, giving and treasury, reports, church life,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Pitch-only slide. Spreadsheets and point tools fail hierarchy and trust. ChurchHub replaces fragmentation.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Hierarchy from GC to local church. One platform for membership, treasury, remittance, church life, reports, portal,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Mission Control: KPIs scoped to active church, Action Queue, teller/business date, pastoral pulse. Chart is sample demo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Living directory with church scope. Journey preserves history. Visitors convert without re-typing.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Permissioned giving. Business-date posting. Printable confirmation. Maker-checker. Remittance cut-off at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Church Life: shared calendar, governed meetings, announcements to portal.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report center. Stewardship answers in seconds. Trial balance equality — double-entry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RBAC, tenancy wall, separate platform lane. Features per church. Audited operator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Executives: visibility. Pastors: queue. Treasurers: books. Admins: membership and access. One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Recommended next step: guided pilot with your hierarchy, chart of accounts, and two churches. Happy to go deeper on remittance, permissions, or the member portal. What matters most to your team?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CHURCHHUB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3C5FD"/>
                </a:solidFill>
                <a:latin typeface="Calibri"/>
              </a:rPr>
              <a:t>Enterprise Church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One platform. Complete hierarchy. Books you can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Confidential  ·  Prospect briefing  ·  Icon: building / brand mark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Ten minutes. The full arc.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C5FD"/>
                </a:solidFill>
                <a:latin typeface="Calibri"/>
              </a:rPr>
              <a:t>Agenda  ·  Icons: speedometer · people · cash · chart · calendar · building-gear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F6FEB"/>
                </a:solidFill>
                <a:latin typeface="Calibri"/>
              </a:rPr>
              <a:t>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1  Mission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F6FEB"/>
                </a:solidFill>
                <a:latin typeface="Calibri"/>
              </a:rPr>
              <a:t>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2  People &amp; visitors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F6FEB"/>
                </a:solidFill>
                <a:latin typeface="Calibri"/>
              </a:rPr>
              <a:t>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3  Giving &amp; treasury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F6FEB"/>
                </a:solidFill>
                <a:latin typeface="Calibr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4 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F6FEB"/>
                </a:solidFill>
                <a:latin typeface="Calibri"/>
              </a:rPr>
              <a:t>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5  Church life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F6FEB"/>
                </a:solidFill>
                <a:latin typeface="Calibri"/>
              </a:rPr>
              <a:t>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6 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Live demo preferred. These slides are the map — and the backup if the app is unavailable.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ChurchHub Enterprise  ·  Sample demo data where charts appear  ·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Church administration is enterprise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C5FD"/>
                </a:solidFill>
                <a:latin typeface="Calibr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Spreadsheets break at scale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Point tools don’t respect hierarchy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Finance mistakes erode trust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Pastoral follow-ups get lost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B1F3A"/>
                </a:solidFill>
                <a:latin typeface="Calibri"/>
              </a:rPr>
              <a:t>“Financial mistakes aren’t IT issues — they’re trust issues.”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0" y="3200400"/>
          <a:ext cx="50292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ChurchHub Enterprise  ·  Sample demo data where charts appear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Built for your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C5FD"/>
                </a:solidFill>
                <a:latin typeface="Calibri"/>
              </a:rPr>
              <a:t>Not a flat single-site toy  ·  Icon: diagram-3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303520" cy="5029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General Conference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5303520" cy="5029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Union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5303520" cy="5029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79"/>
            <a:ext cx="5303520" cy="5029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Zone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5303520" cy="50292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District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34840"/>
            <a:ext cx="5303520" cy="50292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Local Church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228600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Membership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371600"/>
            <a:ext cx="228600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Treasury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228600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Remittance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011680"/>
            <a:ext cx="228600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Church Life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651760"/>
            <a:ext cx="228600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Reports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2651760"/>
            <a:ext cx="228600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Portal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291839"/>
            <a:ext cx="228600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292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Screenshot drop-in: 03-organization-hierarchy.png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ChurchHub Enterprise  ·  Sample demo data where charts appear  ·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Mission Control — pulse for every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C5FD"/>
                </a:solidFill>
                <a:latin typeface="Calibri"/>
              </a:rPr>
              <a:t>Icons: speedometer2 · list-check · calculator · lightning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Role-aware KPIs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Action Queue (visitors, transfers, approvals)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Teller console &amp; business date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This Week Pulse — birthdays, meetings, follow-ups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17920" y="1234440"/>
          <a:ext cx="53949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ChurchHub Enterprise  ·  Sample demo data where charts appear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Membership &amp; visitors — one living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C5FD"/>
                </a:solidFill>
                <a:latin typeface="Calibri"/>
              </a:rPr>
              <a:t>Icons: person-vcard · people · person-plus · heartbeat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Calibri"/>
              </a:rPr>
              <a:t>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Directory, profile, journey timeline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Families, leadership, baptisms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Transfers with audit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Calibri"/>
              </a:rPr>
              <a:t>VISITORS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Capture &amp; follow-up assignment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Convert to member — history preserved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7920" y="1371600"/>
          <a:ext cx="53035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ChurchHub Enterprise  ·  Sample demo data where charts appear  ·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Giving you can counsel. Books you can trust.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C5FD"/>
                </a:solidFill>
                <a:latin typeface="Calibri"/>
              </a:rPr>
              <a:t>Icons: receipt · printer · bank · calendar3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Permissioned giving statements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Record receipt → printable confirmation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Maker-checker approvals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Business date &amp; financial periods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Remittance / monthly cut-off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1234440"/>
          <a:ext cx="53035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ChurchHub Enterprise  ·  Sample demo data where charts appear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Meetings, calendar, announcements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C5FD"/>
                </a:solidFill>
                <a:latin typeface="Calibri"/>
              </a:rPr>
              <a:t>One pastoral rhythm  ·  Icons: calendar-week · journal-text · megaphone · phone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66160" cy="3200400"/>
          </a:xfrm>
          <a:prstGeom prst="roundRect">
            <a:avLst/>
          </a:prstGeom>
          <a:solidFill>
            <a:srgbClr val="F8FA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📅 Calendar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Meetings · birthdays · communications — one shared truth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566160" cy="3200400"/>
          </a:xfrm>
          <a:prstGeom prst="roundRect">
            <a:avLst/>
          </a:prstGeom>
          <a:solidFill>
            <a:srgbClr val="F8FA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📝 Meetings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8346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Agenda · minutes · decisions · attendance · approvals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566160" cy="3200400"/>
          </a:xfrm>
          <a:prstGeom prst="roundRect">
            <a:avLst/>
          </a:prstGeom>
          <a:solidFill>
            <a:srgbClr val="F8FA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📣 + 📱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Announcements publish to church and member phones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Screenshot drop-ins: 07-announcements-calendar · meetings-detail · 08-portal-mobile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ChurchHub Enterprise  ·  Sample demo data where charts appear  ·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Reports leaders use. Integrity auditors expect.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C5FD"/>
                </a:solidFill>
                <a:latin typeface="Calibri"/>
              </a:rPr>
              <a:t>Icons: file-earmark-bar-graph · balance-scale · download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943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Report Center — role-filtered catalog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Tithe &amp; offering · membership · attendance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Trial balance · income statement · balance sheet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Export CSV · Excel · PDF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Double-entry books of record — not a second GL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493776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Sample trial 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1031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Cash ................ 120,000 Dr
Tithe Income ........ 85,000 Cr
Offerings ........... 25,000 Cr
Expenses ............ 15,000 Dr
─────────────────────────
Total  135,000 = 135,000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ChurchHub Enterprise  ·  Sample demo data where charts appear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Least privilege. Denomination wall. Operator lane.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C5FD"/>
                </a:solidFill>
                <a:latin typeface="Calibri"/>
              </a:rPr>
              <a:t>Icons: key · shield-lock · layers · toggles · journal-check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Roles, overrides,
effective permissions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56616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Tenancy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Church scope +
denomination isolation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566160" cy="2194560"/>
          </a:xfrm>
          <a:prstGeom prst="roundRect">
            <a:avLst/>
          </a:prstGeom>
          <a:solidFill>
            <a:srgbClr val="0B1F3A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945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Subscriptions, features,
audit, health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23360"/>
            <a:ext cx="3566160" cy="1371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Institution Workspace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023360"/>
            <a:ext cx="3566160" cy="13716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Denomination Wall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023360"/>
            <a:ext cx="3566160" cy="1371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Platform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ChurchHub Enterprise  ·  Sample demo data where charts appear  ·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each leader walks away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C5FD"/>
                </a:solidFill>
                <a:latin typeface="Calibri"/>
              </a:rPr>
              <a:t>Outcomes by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Executive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Visibility &amp; hierarchy roll-up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48640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Pastor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Action Queue &amp; visitors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548640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Treasurer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Receipts, statements, trial balance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657600"/>
            <a:ext cx="548640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886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Admin / Clerk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4805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Directory, transfers, invitations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ChurchHub Enterprise  ·  Sample demo data where charts appear  ·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3C5FD"/>
                </a:solidFill>
                <a:latin typeface="Calibri"/>
              </a:rPr>
              <a:t>Recommended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Guided pilot on your conference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E2E8F0"/>
                </a:solidFill>
                <a:latin typeface="Calibri"/>
              </a:rPr>
              <a:t>• Your chart of accounts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2E8F0"/>
                </a:solidFill>
                <a:latin typeface="Calibri"/>
              </a:rPr>
              <a:t>• Two local churches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E2E8F0"/>
                </a:solidFill>
                <a:latin typeface="Calibri"/>
              </a:rPr>
              <a:t>• Your roles and remittance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46320"/>
            <a:ext cx="3108960" cy="64008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Request a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4846320"/>
            <a:ext cx="3108960" cy="64008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Talk to Sales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846320"/>
            <a:ext cx="3108960" cy="64008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Start 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